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1C4A">
              <a:alpha val="6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Reducing New-Customer Churn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Retention Strategy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BUSINESS ANALYSIS  ·  500-CUSTOMER RELATIONSHIP DATASET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464040" y="1188720"/>
            <a:ext cx="1920240" cy="1920240"/>
          </a:xfrm>
          <a:prstGeom prst="ellipse">
            <a:avLst/>
          </a:prstGeom>
          <a:solidFill>
            <a:srgbClr val="C44E5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64040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10.6%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46404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743200" cy="2743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65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10.6%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88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of 500 customers lost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794760" y="1508760"/>
            <a:ext cx="7680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churned customer is lost recurring revenue plus a wasted acquisition cost.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needs to know: who is at risk, why, and what to do about it.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was built around four objectives:</a:t>
            </a:r>
            <a:endParaRPr lang="en-US" sz="15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statistically-validated churn drivers</a:t>
            </a:r>
            <a:endParaRPr lang="en-US" sz="15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model that flags at-risk customers early</a:t>
            </a:r>
            <a:endParaRPr lang="en-US" sz="15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to target retention spend</a:t>
            </a:r>
            <a:endParaRPr lang="en-US" sz="15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concrete implementation plan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Approach: A 5-Phase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188720" cy="11887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3657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problem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success metrics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82880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926080" y="1828800"/>
            <a:ext cx="1188720" cy="1188720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2608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3657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Collect, clean,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data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182880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120640" y="1828800"/>
            <a:ext cx="1188720" cy="1188720"/>
          </a:xfrm>
          <a:prstGeom prst="ellipse">
            <a:avLst/>
          </a:prstGeom>
          <a:solidFill>
            <a:srgbClr val="55A8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2064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657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visuals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82880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315200" y="1828800"/>
            <a:ext cx="1188720" cy="1188720"/>
          </a:xfrm>
          <a:prstGeom prst="ellipse">
            <a:avLst/>
          </a:prstGeom>
          <a:solidFill>
            <a:srgbClr val="DD845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3657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segments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182880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509760" y="1828800"/>
            <a:ext cx="1188720" cy="1188720"/>
          </a:xfrm>
          <a:prstGeom prst="ellipse">
            <a:avLst/>
          </a:prstGeom>
          <a:solidFill>
            <a:srgbClr val="C44E5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50976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189720" y="3657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action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Selection &amp; Data Quality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035040" cy="201168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sales_data.csv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below 500-row minimum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house_prices.csv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below 500-row minimum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customer_churn.csv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5A8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0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Checks Passed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858000" y="192024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missing values across all 500 rows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 rows, 0 duplicate customer IDs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implausible numeric ranges (Tenure, charges)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categorical labels (Contract, Payment)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749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customer_churn.csv is the only dataset meeting the assignment's 500-row minimum, and it's the strongest fit for a retention-focused business problem.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FINDING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of churn happens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first 11 months.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for customers under 12 months of tenure: 63%.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for everyone else: 0%.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reframes the whole problem: it isn't general churn prediction — it's first-year retention.</a:t>
            </a:r>
            <a:endParaRPr lang="en-US" sz="1500" dirty="0"/>
          </a:p>
        </p:txBody>
      </p:sp>
      <p:pic>
        <p:nvPicPr>
          <p:cNvPr id="5" name="Image 0" descr="04_churn_by_tenure_bu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097280"/>
            <a:ext cx="5120640" cy="3657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Churn: Contract &amp; Payment</a:t>
            </a:r>
            <a:endParaRPr lang="en-US" sz="3000" dirty="0"/>
          </a:p>
        </p:txBody>
      </p:sp>
      <p:pic>
        <p:nvPicPr>
          <p:cNvPr id="3" name="Image 0" descr="03_churn_by_categ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10515600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far more than annual-contract customers. Payment method shows some raw variation but is not statistically significant (Slide 7).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Validation: 5 Hypothesis Tests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310896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type vs Churn (Chi-square)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5A8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Tenure: Churned vs Retained (t-test)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5A8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MonthlyCharges: Churned vs Retained (t-test)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5A8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method vs Churn (Chi-square)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citizen status vs Churn (Chi-square)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4937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non-significant results matters too: honest science means not overstating what the data supports.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Model: Flagging At-Risk Customers</a:t>
            </a:r>
            <a:endParaRPr lang="en-US" sz="3000" dirty="0"/>
          </a:p>
        </p:txBody>
      </p:sp>
      <p:pic>
        <p:nvPicPr>
          <p:cNvPr id="3" name="Image 0" descr="06_model_perform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315200" cy="2438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0" y="155448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458200" y="1627632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5A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784080" y="1627632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297180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458200" y="3044952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D8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784080" y="3044952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0" y="438912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458200" y="4462272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0.987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9784080" y="4462272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Learned</a:t>
            </a:r>
            <a:endParaRPr lang="en-US" sz="3000" dirty="0"/>
          </a:p>
        </p:txBody>
      </p:sp>
      <p:pic>
        <p:nvPicPr>
          <p:cNvPr id="3" name="Image 0" descr="07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280160"/>
            <a:ext cx="6583680" cy="46085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1040" y="182880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has by far the largest effect — more tenure strongly reduces churn odds.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 and two-year contracts reduce churn odds vs. month-to-month.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monthly charges and Electronic Check payment slightly raise churn odds.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Critical Check: Do We Need the Full Model?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churners have Tenure ≤ 11 months. Before trusting a 9-feature model, we tested the simplest possible alternative.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7F8F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 (9 features)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100%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65%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AUC: 0.987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training, scaling, monitoring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214884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23774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Rule: “Tenure &lt; 12 months”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97180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100%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64%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94%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today — zero infrastructure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ship the simple rule immediately; keep the fuller model as a secondary risk-ranking layer.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Segmentation: Where to Focus</a:t>
            </a:r>
            <a:endParaRPr lang="en-US" sz="3000" dirty="0"/>
          </a:p>
        </p:txBody>
      </p:sp>
      <p:pic>
        <p:nvPicPr>
          <p:cNvPr id="3" name="Image 0" descr="08_customer_seg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863840" cy="2621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869680" y="1920240"/>
            <a:ext cx="2468880" cy="2468880"/>
          </a:xfrm>
          <a:prstGeom prst="ellipse">
            <a:avLst/>
          </a:prstGeom>
          <a:solidFill>
            <a:srgbClr val="C44E5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869680" y="23317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21.8%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869680" y="3063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in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segment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4663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~4.5% in the other two segments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Plan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356616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(Wks 1-2)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“Tenure&lt;12mo” flag in CRM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 Ops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flagged in week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(Wks 3-6)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Incentivize annual-contract switch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(Wks 5-10)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onboarding for high-risk segment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Success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cohort churn vs. 22%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(Ongoing)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Retrain model quarterly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Data/Analytics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≥ 0.90 each refresh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success metric: reduce the 0-12-month cohort's churn rate from 63% toward parity with the rest of the base within two quarters.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Insight to Action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175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one-line rule ships this week. A validated model and a targeted segmentation strategy are ready to scale retention efforts beyond it.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methodology: capstone_analysis.ipynb   ·   Technical Report: reports/technical_report.pdf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2026-09-13T04:15:01Z</dcterms:created>
  <dcterms:modified xsi:type="dcterms:W3CDTF">2026-09-13T04:15:01Z</dcterms:modified>
</cp:coreProperties>
</file>